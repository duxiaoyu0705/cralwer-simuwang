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1B2A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E8E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Simuwang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E8E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基金数据抓取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系统架构与技术实现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1371600" cy="36576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× FundNavTrend API × AES-256-CBC 解密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0" y="1371600"/>
            <a:ext cx="1097280" cy="10972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498080" y="2743200"/>
            <a:ext cx="1097280" cy="10972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0" y="2743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DD9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E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系统架构总览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三层结构: 浏览器自动化 → API 拦截解密 → 数据计算存储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32918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2560320" cy="45720"/>
          </a:xfrm>
          <a:prstGeom prst="rect">
            <a:avLst/>
          </a:prstGeom>
          <a:solidFill>
            <a:srgbClr val="E5A65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A6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浏览器自动化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启动 Chromium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871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自动填写登录表单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7121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翻页获取全部基金链接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25526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逐条进入详情页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6393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 近半年 / 超额收益(算术)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处理弹窗 &amp; 安全验证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560320" cy="32918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463040"/>
            <a:ext cx="2560320" cy="4572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645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拦截解密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监听 fundNavTrend 响应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24871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提取 {encode, data, key, id}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287121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eval(key) 获取 seed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325526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变换 → MD5 → AES Key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36393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AES-256-CBC 解密数据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4023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JSON.parse 获取净值序列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1463040"/>
            <a:ext cx="2560320" cy="32918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463040"/>
            <a:ext cx="2560320" cy="45720"/>
          </a:xfrm>
          <a:prstGeom prst="rect">
            <a:avLst/>
          </a:prstGeom>
          <a:solidFill>
            <a:srgbClr val="4DD9C1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1645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DD9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计算 &amp; 存储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0936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筛选近半年（185天）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24871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累计% → 区间收益率%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287121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基金% - 基准% = 超额%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25526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增量写入 Excel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36393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断点续传 &amp; 失败重试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4023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基金间限速 60s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457200" y="4937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基金总数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5176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3×28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2651760" y="4937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折线×数据点/条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~105s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4846320" y="4937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单条耗时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4088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5h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040880" y="4937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全量预估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E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核心数据流：从页面到 Excel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-320040" y="1188720"/>
            <a:ext cx="1280160" cy="10058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-320040" y="1188720"/>
            <a:ext cx="1280160" cy="45720"/>
          </a:xfrm>
          <a:prstGeom prst="rect">
            <a:avLst/>
          </a:prstGeom>
          <a:solidFill>
            <a:srgbClr val="E5A650"/>
          </a:solidFill>
          <a:ln/>
        </p:spPr>
      </p:sp>
      <p:sp>
        <p:nvSpPr>
          <p:cNvPr id="5" name="Text 3"/>
          <p:cNvSpPr/>
          <p:nvPr/>
        </p:nvSpPr>
        <p:spPr>
          <a:xfrm>
            <a:off x="-320040" y="118872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 登录</a:t>
            </a:r>
            <a:endParaRPr lang="en-US" sz="12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认证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78408" y="1600200"/>
            <a:ext cx="100584" cy="36576"/>
          </a:xfrm>
          <a:prstGeom prst="rect">
            <a:avLst/>
          </a:prstGeom>
          <a:solidFill>
            <a:srgbClr val="6A7894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188720"/>
            <a:ext cx="1280160" cy="10058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0" y="1188720"/>
            <a:ext cx="1280160" cy="45720"/>
          </a:xfrm>
          <a:prstGeom prst="rect">
            <a:avLst/>
          </a:prstGeom>
          <a:solidFill>
            <a:srgbClr val="E5A65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18872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 翻页</a:t>
            </a:r>
            <a:endParaRPr lang="en-US" sz="12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列表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95728" y="1600200"/>
            <a:ext cx="100584" cy="36576"/>
          </a:xfrm>
          <a:prstGeom prst="rect">
            <a:avLst/>
          </a:prstGeom>
          <a:solidFill>
            <a:srgbClr val="6A7894"/>
          </a:solidFill>
          <a:ln/>
        </p:spPr>
      </p:sp>
      <p:sp>
        <p:nvSpPr>
          <p:cNvPr id="11" name="Shape 9"/>
          <p:cNvSpPr/>
          <p:nvPr/>
        </p:nvSpPr>
        <p:spPr>
          <a:xfrm>
            <a:off x="2514600" y="1188720"/>
            <a:ext cx="1280160" cy="10058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188720"/>
            <a:ext cx="1280160" cy="45720"/>
          </a:xfrm>
          <a:prstGeom prst="rect">
            <a:avLst/>
          </a:prstGeom>
          <a:solidFill>
            <a:srgbClr val="E5A650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118872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 进入</a:t>
            </a:r>
            <a:endParaRPr lang="en-US" sz="12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详情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13048" y="1600200"/>
            <a:ext cx="100584" cy="36576"/>
          </a:xfrm>
          <a:prstGeom prst="rect">
            <a:avLst/>
          </a:prstGeom>
          <a:solidFill>
            <a:srgbClr val="6A7894"/>
          </a:solidFill>
          <a:ln/>
        </p:spPr>
      </p:sp>
      <p:sp>
        <p:nvSpPr>
          <p:cNvPr id="15" name="Shape 13"/>
          <p:cNvSpPr/>
          <p:nvPr/>
        </p:nvSpPr>
        <p:spPr>
          <a:xfrm>
            <a:off x="3931920" y="1188720"/>
            <a:ext cx="1280160" cy="10058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31920" y="1188720"/>
            <a:ext cx="1280160" cy="4572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0" y="118872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④ 拦截</a:t>
            </a:r>
            <a:endParaRPr lang="en-US" sz="12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30368" y="1600200"/>
            <a:ext cx="100584" cy="36576"/>
          </a:xfrm>
          <a:prstGeom prst="rect">
            <a:avLst/>
          </a:prstGeom>
          <a:solidFill>
            <a:srgbClr val="6A7894"/>
          </a:solidFill>
          <a:ln/>
        </p:spPr>
      </p:sp>
      <p:sp>
        <p:nvSpPr>
          <p:cNvPr id="19" name="Shape 17"/>
          <p:cNvSpPr/>
          <p:nvPr/>
        </p:nvSpPr>
        <p:spPr>
          <a:xfrm>
            <a:off x="5349240" y="1188720"/>
            <a:ext cx="1280160" cy="10058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49240" y="1188720"/>
            <a:ext cx="1280160" cy="4572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118872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⑤ AES</a:t>
            </a:r>
            <a:endParaRPr lang="en-US" sz="12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解密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47688" y="1600200"/>
            <a:ext cx="100584" cy="36576"/>
          </a:xfrm>
          <a:prstGeom prst="rect">
            <a:avLst/>
          </a:prstGeom>
          <a:solidFill>
            <a:srgbClr val="6A7894"/>
          </a:solidFill>
          <a:ln/>
        </p:spPr>
      </p:sp>
      <p:sp>
        <p:nvSpPr>
          <p:cNvPr id="23" name="Shape 21"/>
          <p:cNvSpPr/>
          <p:nvPr/>
        </p:nvSpPr>
        <p:spPr>
          <a:xfrm>
            <a:off x="6766560" y="1188720"/>
            <a:ext cx="1280160" cy="10058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1188720"/>
            <a:ext cx="1280160" cy="45720"/>
          </a:xfrm>
          <a:prstGeom prst="rect">
            <a:avLst/>
          </a:prstGeom>
          <a:solidFill>
            <a:srgbClr val="4DD9C1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118872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⑥ 数据</a:t>
            </a:r>
            <a:endParaRPr lang="en-US" sz="12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计算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65008" y="1600200"/>
            <a:ext cx="100584" cy="36576"/>
          </a:xfrm>
          <a:prstGeom prst="rect">
            <a:avLst/>
          </a:prstGeom>
          <a:solidFill>
            <a:srgbClr val="6A7894"/>
          </a:solidFill>
          <a:ln/>
        </p:spPr>
      </p:sp>
      <p:sp>
        <p:nvSpPr>
          <p:cNvPr id="27" name="Shape 25"/>
          <p:cNvSpPr/>
          <p:nvPr/>
        </p:nvSpPr>
        <p:spPr>
          <a:xfrm>
            <a:off x="8183880" y="1188720"/>
            <a:ext cx="1280160" cy="10058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83880" y="1188720"/>
            <a:ext cx="1280160" cy="45720"/>
          </a:xfrm>
          <a:prstGeom prst="rect">
            <a:avLst/>
          </a:prstGeom>
          <a:solidFill>
            <a:srgbClr val="7EC87B"/>
          </a:solidFill>
          <a:ln/>
        </p:spPr>
      </p:sp>
      <p:sp>
        <p:nvSpPr>
          <p:cNvPr id="29" name="Text 27"/>
          <p:cNvSpPr/>
          <p:nvPr/>
        </p:nvSpPr>
        <p:spPr>
          <a:xfrm>
            <a:off x="8183880" y="118872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⑦ 保存</a:t>
            </a:r>
            <a:endParaRPr lang="en-US" sz="12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Excel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2651760"/>
            <a:ext cx="3931920" cy="21945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2651760"/>
            <a:ext cx="54864" cy="2194560"/>
          </a:xfrm>
          <a:prstGeom prst="rect">
            <a:avLst/>
          </a:prstGeom>
          <a:solidFill>
            <a:srgbClr val="E5A650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2743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A6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登录 &amp; 列表获取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31520" y="3154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切换到"密码登录"Tab（默认短信验证码）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" y="3456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填写手机号/密码 → 勾选"我已阅读并同意"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37581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force=True 点击绕过遮罩 → wait(5s)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" y="40599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翻页: 检查 .btn-next.disabled → 循环点击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" y="43616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结果: 4页 × 50条/page → 165只基金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2651760"/>
            <a:ext cx="3931920" cy="21945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9" name="Shape 37"/>
          <p:cNvSpPr/>
          <p:nvPr/>
        </p:nvSpPr>
        <p:spPr>
          <a:xfrm>
            <a:off x="4754880" y="2651760"/>
            <a:ext cx="54864" cy="219456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0" y="2743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拦截 &amp; AES 解密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029200" y="3154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page.on('response') → 匹配 fundNavTrend URL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0" y="3456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response.json() → {encode, data, key, id}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0" y="37581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eval(d.key) → window[d.id] = seed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0" y="40599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经 encode 变换 → MD5(seed) → AES Key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0" y="43616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AES-256-CBC(atob(data), key, iv) → JSON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29200" y="4663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CryptoJS 来源: 遍历 window 找阿里验证码副本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E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AES-256-CBC 解密链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步解密流程，在浏览器 JS 环境中执行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10312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1920240" cy="45720"/>
          </a:xfrm>
          <a:prstGeom prst="rect">
            <a:avLst/>
          </a:prstGeom>
          <a:solidFill>
            <a:srgbClr val="E5A65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5A6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提取 Seed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4231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eval(d.key) 执行混淆JS代码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设置 window[pXXXXX] = "seedValue"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04872" y="2286000"/>
            <a:ext cx="146304" cy="36576"/>
          </a:xfrm>
          <a:prstGeom prst="rect">
            <a:avLst/>
          </a:prstGeom>
          <a:solidFill>
            <a:srgbClr val="6A7894"/>
          </a:solidFill>
          <a:ln/>
        </p:spPr>
      </p:sp>
      <p:sp>
        <p:nvSpPr>
          <p:cNvPr id="10" name="Shape 8"/>
          <p:cNvSpPr/>
          <p:nvPr/>
        </p:nvSpPr>
        <p:spPr>
          <a:xfrm>
            <a:off x="2606040" y="1371600"/>
            <a:ext cx="1920240" cy="210312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371600"/>
            <a:ext cx="1920240" cy="4572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74320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密钥变换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0" y="24231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encode=3~10 控制变换规则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例: encode=8 → seed[1:-2]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53712" y="2286000"/>
            <a:ext cx="146304" cy="36576"/>
          </a:xfrm>
          <a:prstGeom prst="rect">
            <a:avLst/>
          </a:prstGeom>
          <a:solidFill>
            <a:srgbClr val="6A7894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1371600"/>
            <a:ext cx="1920240" cy="210312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371600"/>
            <a:ext cx="1920240" cy="4572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9204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MD5 → AES Key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2040" y="24231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 = MD5(key).toString()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= UTF8(hex) 32B, IV = UTF8(hex[16:32])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02552" y="2286000"/>
            <a:ext cx="146304" cy="36576"/>
          </a:xfrm>
          <a:prstGeom prst="rect">
            <a:avLst/>
          </a:prstGeom>
          <a:solidFill>
            <a:srgbClr val="6A7894"/>
          </a:solidFill>
          <a:ln/>
        </p:spPr>
      </p:sp>
      <p:sp>
        <p:nvSpPr>
          <p:cNvPr id="22" name="Shape 20"/>
          <p:cNvSpPr/>
          <p:nvPr/>
        </p:nvSpPr>
        <p:spPr>
          <a:xfrm>
            <a:off x="6903720" y="1371600"/>
            <a:ext cx="1920240" cy="210312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1371600"/>
            <a:ext cx="1920240" cy="45720"/>
          </a:xfrm>
          <a:prstGeom prst="rect">
            <a:avLst/>
          </a:prstGeom>
          <a:solidFill>
            <a:srgbClr val="4DD9C1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DD9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04088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AES 解密 &amp; 解析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40880" y="24231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AES-CBC-Decrypt(atob(data), key, iv)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toString(UTF8) → JSON.parse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3749040"/>
            <a:ext cx="54864" cy="1097280"/>
          </a:xfrm>
          <a:prstGeom prst="rect">
            <a:avLst/>
          </a:prstGeom>
          <a:solidFill>
            <a:srgbClr val="E5A650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A6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关键技术细节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" y="41605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CryptoJS: Nuxt3 ES模块导入，非全局变量 → 遍历 Object.getOwnPropertyNames(window) 找到阿里云验证码暴露的副本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437083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window.atob() vs CryptoJS.enc.Base64.parse() — 两者在 AES.decrypt() 内部处理路径不同，必须与页面代码一致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4581144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加密算法: AES-256-CBC, key=MD5(seed).toHex().toUTF8Bytes(32B), iv=UTF8(hex[16:32])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E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数据计算与输出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347472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3474720"/>
          </a:xfrm>
          <a:prstGeom prst="rect">
            <a:avLst/>
          </a:prstGeom>
          <a:solidFill>
            <a:srgbClr val="4DD9C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DD9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收益率计算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解码后数据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79222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categories: ["2020-03-09", ..., "2026-07-10"]  (360个日期)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98424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data[fundId].ret: [0, 1.2, ..., 497.3]  (累计收益率%)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762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data.IN0000007M: [..., 48.99]  (中证500基准)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36829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近半年筛选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75234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last_date = categories[-1]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9443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cutoff = last_date - 185天 → 取28个周度数据点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1363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731520" y="332841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区间收益率公式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5204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5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multiplier = 1 + ret / 100    ← 关键! ret是百分比不是乘数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71246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C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fund% = (mult_now / mult_start - 1) × 100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90448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C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excess% = fund% - bench%    (超额收益算术)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096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731520" y="428853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 (2026-01-16)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44805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ret=370.6 → mult=4.706, base=357.43 → mult=4.5743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67258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C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fund = 4.706/4.5743-1 = 2.88% ✓  excess = 2.88-2.18 = 0.69% 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60720" y="1097280"/>
            <a:ext cx="2926080" cy="14630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760720" y="1097280"/>
            <a:ext cx="2926080" cy="45720"/>
          </a:xfrm>
          <a:prstGeom prst="rect">
            <a:avLst/>
          </a:prstGeom>
          <a:solidFill>
            <a:srgbClr val="7EC87B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1234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C87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Excel 输出格式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43600" y="16002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基金名称 | 数据线 | 序号 | 日期 | 数值(%)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180136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3条线 × 28点 = 84行/基金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200253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165只 × 84行 = 13,860行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0" y="220370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增量保存: 每条即时写入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60720" y="2743200"/>
            <a:ext cx="2926080" cy="18288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760720" y="2743200"/>
            <a:ext cx="2926080" cy="45720"/>
          </a:xfrm>
          <a:prstGeom prst="rect">
            <a:avLst/>
          </a:prstGeom>
          <a:solidFill>
            <a:srgbClr val="E5A650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0" y="2880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A6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容错机制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943600" y="324612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断点续传: 启动时读取已有Excel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0" y="341071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跳过已处理基金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0" y="3575304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失败重试: 无数据 → 等180s → 重试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0" y="3739896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最多重试 3 次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0" y="39044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安全验证: "账户安全验证"弹窗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43600" y="406908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暂停 + 提示手动输入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43600" y="423367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限速: 基金间 sleep(60s)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43600" y="4398264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全量约 5 小时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8E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技术栈 &amp; 总结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560320" cy="8229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 3.10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主控脚本语言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2560320" cy="8229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A6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Playwright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2044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浏览器自动化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560320" cy="8229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DD9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Pandas / OpenPyXL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数据处理 &amp; Excel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286000"/>
            <a:ext cx="2560320" cy="8229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2377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CryptoJS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AES-256-CBC 解密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3280" y="2286000"/>
            <a:ext cx="2560320" cy="8229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20440" y="2377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A6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Chromium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2044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页面渲染引擎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2286000"/>
            <a:ext cx="2560320" cy="8229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55080" y="2377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DD9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PptxGenJS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5508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本PPT生成工具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474720"/>
            <a:ext cx="8229600" cy="54864"/>
          </a:xfrm>
          <a:prstGeom prst="rect">
            <a:avLst/>
          </a:prstGeom>
          <a:solidFill>
            <a:srgbClr val="2A3A52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165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8640" y="4206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基金总数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3×28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2743200" y="4206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折线×点/条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13,860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4937760" y="4206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总行数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5h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132320" y="4206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全量预估耗时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 / simuwang-fund-scraper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Simuwang 基金数据抓取 - 技术实现</dc:title>
  <dc:subject>PptxGenJS Presentation</dc:subject>
  <dc:creator>Simuwang Data Team</dc:creator>
  <cp:lastModifiedBy>Simuwang Data Team</cp:lastModifiedBy>
  <cp:revision>1</cp:revision>
  <dcterms:created xsi:type="dcterms:W3CDTF">2026-07-23T12:07:13Z</dcterms:created>
  <dcterms:modified xsi:type="dcterms:W3CDTF">2026-07-23T12:07:13Z</dcterms:modified>
</cp:coreProperties>
</file>